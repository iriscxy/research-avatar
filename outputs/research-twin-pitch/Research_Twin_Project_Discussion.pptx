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87d40c3b984af2" /><Relationship Type="http://schemas.openxmlformats.org/officeDocument/2006/relationships/extended-properties" Target="/docProps/app.xml" Id="R7484277d2b8e4082" /><Relationship Type="http://schemas.openxmlformats.org/officeDocument/2006/relationships/officeDocument" Target="/ppt/presentation.xml" Id="R675ef4467bd4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336dcf36a4663"/>
  </p:sldMasterIdLst>
  <p:notesMasterIdLst>
    <p:notesMasterId xmlns:r="http://schemas.openxmlformats.org/officeDocument/2006/relationships" r:id="R4e836ba07d3f418a"/>
  </p:notesMasterIdLst>
  <p:sldIdLst>
    <p:sldId xmlns:r="http://schemas.openxmlformats.org/officeDocument/2006/relationships" id="256" r:id="Rae0b91f086164779"/>
    <p:sldId xmlns:r="http://schemas.openxmlformats.org/officeDocument/2006/relationships" id="257" r:id="R0e63614412ae439e"/>
    <p:sldId xmlns:r="http://schemas.openxmlformats.org/officeDocument/2006/relationships" id="258" r:id="Rd804d9e95dab406a"/>
    <p:sldId xmlns:r="http://schemas.openxmlformats.org/officeDocument/2006/relationships" id="259" r:id="Rf3b3082dcb534e31"/>
    <p:sldId xmlns:r="http://schemas.openxmlformats.org/officeDocument/2006/relationships" id="260" r:id="Re62721f9caa04afb"/>
    <p:sldId xmlns:r="http://schemas.openxmlformats.org/officeDocument/2006/relationships" id="261" r:id="R81a2e82ae9524e2c"/>
    <p:sldId xmlns:r="http://schemas.openxmlformats.org/officeDocument/2006/relationships" id="262" r:id="Rec76c046f7904a36"/>
    <p:sldId xmlns:r="http://schemas.openxmlformats.org/officeDocument/2006/relationships" id="263" r:id="Ra54c36b588d74afb"/>
    <p:sldId xmlns:r="http://schemas.openxmlformats.org/officeDocument/2006/relationships" id="264" r:id="Rd6997f33066c44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336dcf36a4663" /><Relationship Type="http://schemas.openxmlformats.org/officeDocument/2006/relationships/theme" Target="/ppt/theme/theme1.xml" Id="R46d50a23f3a94086" /><Relationship Type="http://schemas.openxmlformats.org/officeDocument/2006/relationships/notesMaster" Target="/ppt/notesMasters/notesMaster1.xml" Id="R4e836ba07d3f418a" /><Relationship Type="http://schemas.openxmlformats.org/officeDocument/2006/relationships/presProps" Target="/ppt/presProps.xml" Id="Rcd6d2c5aa0af485d" /><Relationship Type="http://schemas.openxmlformats.org/officeDocument/2006/relationships/viewProps" Target="/ppt/viewProps.xml" Id="R080664ad365a41b9" /><Relationship Type="http://schemas.openxmlformats.org/officeDocument/2006/relationships/tableStyles" Target="/ppt/tableStyles.xml" Id="R4489a0946e7a4d2f" /><Relationship Type="http://schemas.openxmlformats.org/officeDocument/2006/relationships/slide" Target="/ppt/slides/slide1.xml" Id="Rae0b91f086164779" /><Relationship Type="http://schemas.openxmlformats.org/officeDocument/2006/relationships/slide" Target="/ppt/slides/slide2.xml" Id="R0e63614412ae439e" /><Relationship Type="http://schemas.openxmlformats.org/officeDocument/2006/relationships/slide" Target="/ppt/slides/slide3.xml" Id="Rd804d9e95dab406a" /><Relationship Type="http://schemas.openxmlformats.org/officeDocument/2006/relationships/slide" Target="/ppt/slides/slide4.xml" Id="Rf3b3082dcb534e31" /><Relationship Type="http://schemas.openxmlformats.org/officeDocument/2006/relationships/slide" Target="/ppt/slides/slide5.xml" Id="Re62721f9caa04afb" /><Relationship Type="http://schemas.openxmlformats.org/officeDocument/2006/relationships/slide" Target="/ppt/slides/slide6.xml" Id="R81a2e82ae9524e2c" /><Relationship Type="http://schemas.openxmlformats.org/officeDocument/2006/relationships/slide" Target="/ppt/slides/slide7.xml" Id="Rec76c046f7904a36" /><Relationship Type="http://schemas.openxmlformats.org/officeDocument/2006/relationships/slide" Target="/ppt/slides/slide8.xml" Id="Ra54c36b588d74afb" /><Relationship Type="http://schemas.openxmlformats.org/officeDocument/2006/relationships/slide" Target="/ppt/slides/slide9.xml" Id="Rd6997f33066c44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c10bf55067545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Research Twin">
  <a:themeElements>
    <a:clrScheme name="Research Twin">
      <a:accent1>
        <a:srgbClr val="16877C"/>
      </a:accent1>
      <a:accent2>
        <a:srgbClr val="16877C"/>
      </a:accent2>
      <a:accent3>
        <a:srgbClr val="315A70"/>
      </a:accent3>
      <a:accent4>
        <a:srgbClr val="65747C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search Twin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f04ab5c8b74863" /><Relationship Type="http://schemas.openxmlformats.org/officeDocument/2006/relationships/notesMaster" Target="/ppt/notesMasters/notesMaster1.xml" Id="R98b40c19ed6c48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c7cff6bb414e24" /><Relationship Type="http://schemas.openxmlformats.org/officeDocument/2006/relationships/notesMaster" Target="/ppt/notesMasters/notesMaster1.xml" Id="Rc74c7c89b950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269f5140824d21" /><Relationship Type="http://schemas.openxmlformats.org/officeDocument/2006/relationships/notesMaster" Target="/ppt/notesMasters/notesMaster1.xml" Id="R0f7d1a7775ce42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58de68b6e3480b" /><Relationship Type="http://schemas.openxmlformats.org/officeDocument/2006/relationships/notesMaster" Target="/ppt/notesMasters/notesMaster1.xml" Id="R29aa0263b5a646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ea2d2d20f4455" /><Relationship Type="http://schemas.openxmlformats.org/officeDocument/2006/relationships/notesMaster" Target="/ppt/notesMasters/notesMaster1.xml" Id="R4b4a1bed176b42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92b1b4e8164658" /><Relationship Type="http://schemas.openxmlformats.org/officeDocument/2006/relationships/notesMaster" Target="/ppt/notesMasters/notesMaster1.xml" Id="R10ced1b23ff94d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5866c01c9041b3" /><Relationship Type="http://schemas.openxmlformats.org/officeDocument/2006/relationships/notesMaster" Target="/ppt/notesMasters/notesMaster1.xml" Id="Rc056dc043daa4f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704babf90644ac" /><Relationship Type="http://schemas.openxmlformats.org/officeDocument/2006/relationships/notesMaster" Target="/ppt/notesMasters/notesMaster1.xml" Id="Rcc7774e3e1f74e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34a0752f2c49b3" /><Relationship Type="http://schemas.openxmlformats.org/officeDocument/2006/relationships/notesMaster" Target="/ppt/notesMasters/notesMaster1.xml" Id="Rfef236e32d414c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建议重点讨论 Research Twin。它既能覆盖 idea、实验和写作，也能自然承接研究者画像这一核心资产。</a:t>
            </a:r>
          </a:p>
          <a:p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内容逐字来自 README 的项目亮点。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内容来自 README 的个性化部分。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researcher-profile/PROFILE.md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01_LIT_SURVEY.html 的实际效果。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reports/01_LIT_SURVEY.html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02_IDEA_REPORT.html 的实际效果。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reports/02_IDEA_REPORT.html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03_EXPERIMENT_PLAN.html 的实际效果。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reports/03_EXPERIMENT_PLAN.html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04_EXP_RESULT.html 的实际效果。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reports/04_EXP_RESULT.html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Paper Studio 的实际效果。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paper/main.tex and paper/main.pdf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内容来自 README 的交付文件部分。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6c754dc5942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2248d48304c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e901b73d344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faa7c82fb49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93074f8a04c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a35558e2c448a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1372B8-0FCE-4074-BA5A-A2B68AF6F6F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B9A288-E532-4F17-86A0-EEB4A49A539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28968471c4f61" /><Relationship Type="http://schemas.openxmlformats.org/officeDocument/2006/relationships/theme" Target="/ppt/theme/theme1.xml" Id="R5c4bad656e144d03" /><Relationship Type="http://schemas.openxmlformats.org/officeDocument/2006/relationships/slideLayout" Target="/ppt/slideLayouts/slideLayout2.xml" Id="R96b88291a7b7426e" /><Relationship Type="http://schemas.openxmlformats.org/officeDocument/2006/relationships/slideLayout" Target="/ppt/slideLayouts/slideLayout3.xml" Id="R9bb17598be2e4d03" /><Relationship Type="http://schemas.openxmlformats.org/officeDocument/2006/relationships/slideLayout" Target="/ppt/slideLayouts/slideLayout4.xml" Id="Rcbef3acacad14b46" /><Relationship Type="http://schemas.openxmlformats.org/officeDocument/2006/relationships/slideLayout" Target="/ppt/slideLayouts/slideLayout5.xml" Id="Raff5b9bcc6e94481" /><Relationship Type="http://schemas.openxmlformats.org/officeDocument/2006/relationships/slideLayout" Target="/ppt/slideLayouts/slideLayout6.xml" Id="R7e9199ca2e1245d7" /><Relationship Type="http://schemas.openxmlformats.org/officeDocument/2006/relationships/slideLayout" Target="/ppt/slideLayouts/slideLayout7.xml" Id="R79d0040596f24ec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A27458-720F-4FE7-8717-187C793FBC5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6d528968471c4f61"/>
    <p:sldLayoutId xmlns:r="http://schemas.openxmlformats.org/officeDocument/2006/relationships" id="2147483649" r:id="R96b88291a7b7426e"/>
    <p:sldLayoutId xmlns:r="http://schemas.openxmlformats.org/officeDocument/2006/relationships" id="2147483650" r:id="R9bb17598be2e4d03"/>
    <p:sldLayoutId xmlns:r="http://schemas.openxmlformats.org/officeDocument/2006/relationships" id="2147483651" r:id="Rcbef3acacad14b46"/>
    <p:sldLayoutId xmlns:r="http://schemas.openxmlformats.org/officeDocument/2006/relationships" id="2147483652" r:id="Raff5b9bcc6e94481"/>
    <p:sldLayoutId xmlns:r="http://schemas.openxmlformats.org/officeDocument/2006/relationships" id="2147483653" r:id="R7e9199ca2e1245d7"/>
    <p:sldLayoutId xmlns:r="http://schemas.openxmlformats.org/officeDocument/2006/relationships" id="2147483654" r:id="R79d0040596f24e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85e581a9ad408f" /><Relationship Type="http://schemas.openxmlformats.org/officeDocument/2006/relationships/notesSlide" Target="/ppt/notesSlides/notesSlide1.xml" Id="Rba2245db59d849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b9f56f7084d3a" /><Relationship Type="http://schemas.openxmlformats.org/officeDocument/2006/relationships/notesSlide" Target="/ppt/notesSlides/notesSlide2.xml" Id="R53547769ec364c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2a82cc3824cc4" /><Relationship Type="http://schemas.openxmlformats.org/officeDocument/2006/relationships/notesSlide" Target="/ppt/notesSlides/notesSlide3.xml" Id="Rd0621b13a96444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a814b9bb54612" /><Relationship Type="http://schemas.openxmlformats.org/officeDocument/2006/relationships/image" Target="/ppt/media/image.png" Id="R77db4c454d9b43c8" /><Relationship Type="http://schemas.openxmlformats.org/officeDocument/2006/relationships/notesSlide" Target="/ppt/notesSlides/notesSlide4.xml" Id="R82cbde7bb5d94c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08078584742ce" /><Relationship Type="http://schemas.openxmlformats.org/officeDocument/2006/relationships/image" Target="/ppt/media/image2.png" Id="R074ff3535eda40ed" /><Relationship Type="http://schemas.openxmlformats.org/officeDocument/2006/relationships/notesSlide" Target="/ppt/notesSlides/notesSlide5.xml" Id="R8d2a8708885f42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e3ed72dd149fd" /><Relationship Type="http://schemas.openxmlformats.org/officeDocument/2006/relationships/image" Target="/ppt/media/image3.png" Id="R45f856bcf7894bd5" /><Relationship Type="http://schemas.openxmlformats.org/officeDocument/2006/relationships/notesSlide" Target="/ppt/notesSlides/notesSlide6.xml" Id="R18c8e22aecde45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197f4ca8c4ca5" /><Relationship Type="http://schemas.openxmlformats.org/officeDocument/2006/relationships/image" Target="/ppt/media/image4.png" Id="Re19e0ec9cc304ab5" /><Relationship Type="http://schemas.openxmlformats.org/officeDocument/2006/relationships/notesSlide" Target="/ppt/notesSlides/notesSlide7.xml" Id="R09a3a5044d124e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c55bb3bc8452f" /><Relationship Type="http://schemas.openxmlformats.org/officeDocument/2006/relationships/image" Target="/ppt/media/image5.png" Id="R1a7ca8ba438443f3" /><Relationship Type="http://schemas.openxmlformats.org/officeDocument/2006/relationships/notesSlide" Target="/ppt/notesSlides/notesSlide8.xml" Id="R3b731786af6043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429a103ce46da" /><Relationship Type="http://schemas.openxmlformats.org/officeDocument/2006/relationships/notesSlide" Target="/ppt/notesSlides/notesSlide9.xml" Id="R23540063e88948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C94BE6F-4A7F-446F-8C96-6524399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01 · NAMING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E4D6974-7036-4E91-B51A-8C9C0CED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02 / 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49627F3-CD38-4986-A9C2-D588CB68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1395075-B3EA-4929-BC86-328E7CDC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项目起名：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7846453-0307-441E-A0CB-63DEFAA7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5334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23813">
            <a:solidFill>
              <a:srgbClr val="16877C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6D5480-46A1-4AFB-B7F9-84CE9580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447"/>
                </a:solidFill>
              </a:defRPr>
            </a:pPr>
            <a:r>
              <a:rPr sz="2025" b="1">
                <a:solidFill>
                  <a:srgbClr val="183447"/>
                </a:solidFill>
              </a:rPr>
              <a:t>Research Twin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B743B58-8833-4DEC-AB19-B52A20FF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C2B49AB-8153-40C6-B8D0-22FF7E34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77C"/>
                </a:solidFill>
              </a:defRPr>
            </a:pPr>
            <a:r>
              <a:rPr sz="975" b="1">
                <a:solidFill>
                  <a:srgbClr val="16877C"/>
                </a:solidFill>
              </a:rPr>
              <a:t>推荐讨论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9EF765E-4DFD-4BA9-AC5F-F5A1780C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77C"/>
                </a:solidFill>
              </a:defRPr>
            </a:pPr>
            <a:r>
              <a:rPr sz="1200" b="1">
                <a:solidFill>
                  <a:srgbClr val="16877C"/>
                </a:solidFill>
              </a:rPr>
              <a:t>研究者数字分身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4A8FCB1-BD46-4452-84A1-DCF58F6E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32D"/>
                </a:solidFill>
              </a:defRPr>
            </a:pPr>
            <a:r>
              <a:rPr sz="1125" b="0">
                <a:solidFill>
                  <a:srgbClr val="17232D"/>
                </a:solidFill>
              </a:rPr>
              <a:t>画像驱动 idea、实验与写作；产品空间最大。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8748613-A11C-4305-B908-5C979019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5334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11430">
            <a:solidFill>
              <a:srgbClr val="D8E0E4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5B6ADAE-E8FF-4537-BFFA-C99202D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447"/>
                </a:solidFill>
              </a:defRPr>
            </a:pPr>
            <a:r>
              <a:rPr sz="2025" b="1">
                <a:solidFill>
                  <a:srgbClr val="183447"/>
                </a:solidFill>
              </a:rPr>
              <a:t>LabMate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40C02613-F4B8-4995-83B4-55D99529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241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709789D-ECB3-435D-AEF8-610BA69F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77C"/>
                </a:solidFill>
              </a:defRPr>
            </a:pPr>
            <a:r>
              <a:rPr sz="975" b="1">
                <a:solidFill>
                  <a:srgbClr val="16877C"/>
                </a:solidFill>
              </a:rPr>
              <a:t>亲和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F659698-9D28-4532-B33E-E7B777F7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77C"/>
                </a:solidFill>
              </a:defRPr>
            </a:pPr>
            <a:r>
              <a:rPr sz="1200" b="1">
                <a:solidFill>
                  <a:srgbClr val="16877C"/>
                </a:solidFill>
              </a:rPr>
              <a:t>懂你习惯的实验室搭子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6E54AD9-1784-48E7-A752-1356EC5C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32D"/>
                </a:solidFill>
              </a:defRPr>
            </a:pPr>
            <a:r>
              <a:rPr sz="1125" b="0">
                <a:solidFill>
                  <a:srgbClr val="17232D"/>
                </a:solidFill>
              </a:rPr>
              <a:t>亲和、易懂，但名称较通用，差异化较弱。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FF319975-6B84-48A8-967E-9C1CB15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5334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8E0E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D7906EE-7150-45EF-97A8-209DF89B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447"/>
                </a:solidFill>
              </a:defRPr>
            </a:pPr>
            <a:r>
              <a:rPr sz="2025" b="1">
                <a:solidFill>
                  <a:srgbClr val="183447"/>
                </a:solidFill>
              </a:rPr>
              <a:t>Scholar Shadow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8CDE96FB-F2D5-456E-83EC-C66FEBFC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767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B2EB0E7-7CAA-409E-BFB5-4295A40A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338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15A70"/>
                </a:solidFill>
              </a:defRPr>
            </a:pPr>
            <a:r>
              <a:rPr sz="975" b="1">
                <a:solidFill>
                  <a:srgbClr val="315A70"/>
                </a:solidFill>
              </a:rPr>
              <a:t>边界感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8A501D9-E3E4-4D65-BF2D-EFB95160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5A70"/>
                </a:solidFill>
              </a:defRPr>
            </a:pPr>
            <a:r>
              <a:rPr sz="1200" b="1">
                <a:solidFill>
                  <a:srgbClr val="315A70"/>
                </a:solidFill>
              </a:rPr>
              <a:t>始终跟随，但不越界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577716A-BC11-42C4-B02C-827660DD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32D"/>
                </a:solidFill>
              </a:defRPr>
            </a:pPr>
            <a:r>
              <a:rPr sz="1125" b="0">
                <a:solidFill>
                  <a:srgbClr val="17232D"/>
                </a:solidFill>
              </a:rPr>
              <a:t>风格跟随很准确；“Shadow”可能带来负面联想。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1F345119-41F9-421A-BED6-472B7EEC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5334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5F6F6"/>
          </a:solidFill>
          <a:ln xmlns:a="http://schemas.openxmlformats.org/drawingml/2006/main" w="11430">
            <a:solidFill>
              <a:srgbClr val="D8E0E4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A54A731-1848-4196-958F-7AE0EF30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447"/>
                </a:solidFill>
              </a:defRPr>
            </a:pPr>
            <a:r>
              <a:rPr sz="2025" b="1">
                <a:solidFill>
                  <a:srgbClr val="183447"/>
                </a:solidFill>
              </a:rPr>
              <a:t>PaperSelf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9E339788-9F84-4EC4-B913-735BC52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767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90FDC51-D823-44DD-B680-E31D404F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338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5747C"/>
                </a:solidFill>
              </a:defRPr>
            </a:pPr>
            <a:r>
              <a:rPr sz="975" b="1">
                <a:solidFill>
                  <a:srgbClr val="65747C"/>
                </a:solidFill>
              </a:rPr>
              <a:t>写作聚焦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CA47BB2-3892-4CF6-94B0-39AA5418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720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747C"/>
                </a:solidFill>
              </a:defRPr>
            </a:pPr>
            <a:r>
              <a:rPr sz="1200" b="1">
                <a:solidFill>
                  <a:srgbClr val="65747C"/>
                </a:solidFill>
              </a:rPr>
              <a:t>写出来像你自己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2C74791-D739-4226-9A06-E4CBDBA6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3397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32D"/>
                </a:solidFill>
              </a:defRPr>
            </a:pPr>
            <a:r>
              <a:rPr sz="1125" b="0">
                <a:solidFill>
                  <a:srgbClr val="17232D"/>
                </a:solidFill>
              </a:rPr>
              <a:t>写作心智最强，但容易把项目误解为只会写论文。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F6DB94D-831E-4FC0-BC0A-16178501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83447"/>
                </a:solidFill>
              </a:defRPr>
            </a:pPr>
            <a:r>
              <a:rPr sz="1125" b="1">
                <a:solidFill>
                  <a:srgbClr val="183447"/>
                </a:solidFill>
              </a:rPr>
              <a:t>讨论标准：是否体现“懂你”｜能否覆盖完整科研流程｜是否容易形成独特品牌</a:t>
            </a:r>
          </a:p>
        </p:txBody>
      </p:sp>
    </p:spTree>
    <p:extLst>
      <p:ext uri="{BB962C8B-B14F-4D97-AF65-F5344CB8AC3E}">
        <p14:creationId xmlns:p14="http://schemas.microsoft.com/office/powerpoint/2010/main" val="1498745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5A217-F351-4C39-B101-FA8405C9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README · HIGHLIGHTS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BB9D8-BD7B-4E94-A47E-1677E06C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02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082C7-BE00-442E-8A34-BD2007D8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B1E84-9091-4C24-B522-D6FF3689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项目亮点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D225F-48FC-4C9F-A392-7748C16E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283D3-AC76-416E-9F7A-F65DB893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7"/>
                </a:solidFill>
              </a:defRPr>
            </a:pPr>
            <a:r>
              <a:rPr sz="1875" b="1">
                <a:solidFill>
                  <a:srgbClr val="183447"/>
                </a:solidFill>
              </a:rPr>
              <a:t>🧭 整体思想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B23CF-298E-4A27-A0B6-356C2A84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2D"/>
                </a:solidFill>
              </a:defRPr>
            </a:pPr>
            <a:r>
              <a:rPr sz="1425" b="0">
                <a:solidFill>
                  <a:srgbClr val="17232D"/>
                </a:solidFill>
              </a:rPr>
              <a:t>个性化主流程读取你的研究者画像（发表经历、写作风格、实验习惯），并在关键节点停下来等你审核。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48868-3C3A-4649-901F-373BC0F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7"/>
                </a:solidFill>
              </a:defRPr>
            </a:pPr>
            <a:r>
              <a:rPr sz="1875" b="1">
                <a:solidFill>
                  <a:srgbClr val="183447"/>
                </a:solidFill>
              </a:rPr>
              <a:t>🎭 个性化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A38C-D310-4204-9290-B2E222C9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2D"/>
                </a:solidFill>
              </a:defRPr>
            </a:pPr>
            <a:r>
              <a:rPr sz="1425" b="0">
                <a:solidFill>
                  <a:srgbClr val="17232D"/>
                </a:solidFill>
              </a:rPr>
              <a:t>一份权威画像驱动选题、实验和论文写作：从你的 Google Scholar 和可用的 coding-agent 历史中提炼研究脉络、写作风格与实验习惯，让产出贴近你，而不是套用通用模板。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439FD-30D3-41CC-88C4-E88807EA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7"/>
                </a:solidFill>
              </a:defRPr>
            </a:pPr>
            <a:r>
              <a:rPr sz="1875" b="1">
                <a:solidFill>
                  <a:srgbClr val="183447"/>
                </a:solidFill>
              </a:rPr>
              <a:t>🧪 实验：从想法到证据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55C31-6088-4809-BB67-8A71D604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66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2D"/>
                </a:solidFill>
              </a:defRPr>
            </a:pPr>
            <a:r>
              <a:rPr sz="1425" b="0">
                <a:solidFill>
                  <a:srgbClr val="17232D"/>
                </a:solidFill>
              </a:rPr>
              <a:t>1. 从论文反推实验——先写预期摘要与论文骨架，再为每条 claim 设计能支持或证伪它的实验，倒推出 baseline / 数据集 / 指标；</a:t>
            </a:r>
          </a:p>
          <a:p xmlns:a="http://schemas.openxmlformats.org/drawingml/2006/main">
            <a:pPr algn="l">
              <a:defRPr sz="1425" b="0">
                <a:solidFill>
                  <a:srgbClr val="17232D"/>
                </a:solidFill>
              </a:defRPr>
            </a:pPr>
            <a:r>
              <a:rPr sz="1425" b="0">
                <a:solidFill>
                  <a:srgbClr val="17232D"/>
                </a:solidFill>
              </a:rPr>
              <a:t>2. 有计划的实验执行——先出整体 plan，再一次给一个 goal，你确认后手动执行 /goal，做完一个再给下一个；</a:t>
            </a:r>
          </a:p>
          <a:p xmlns:a="http://schemas.openxmlformats.org/drawingml/2006/main">
            <a:pPr algn="l">
              <a:defRPr sz="1425" b="0">
                <a:solidFill>
                  <a:srgbClr val="17232D"/>
                </a:solidFill>
              </a:defRPr>
            </a:pPr>
            <a:r>
              <a:rPr sz="1425" b="0">
                <a:solidFill>
                  <a:srgbClr val="17232D"/>
                </a:solidFill>
              </a:rPr>
              <a:t>3. 重要决定始终由你做——过程全程透明可控，每个节点的结果是否支持 claim、要不要补实验、要不要继续，都由你裁决。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EBB9C-3CDC-45E7-B578-12F3A942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447"/>
                </a:solidFill>
              </a:defRPr>
            </a:pPr>
            <a:r>
              <a:rPr sz="1875" b="1">
                <a:solidFill>
                  <a:srgbClr val="183447"/>
                </a:solidFill>
              </a:rPr>
              <a:t>✍️ 论文写作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D0339-BA53-45F0-BBBC-3430F5A3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66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2D"/>
                </a:solidFill>
              </a:defRPr>
            </a:pPr>
            <a:r>
              <a:rPr sz="1425" b="0">
                <a:solidFill>
                  <a:srgbClr val="17232D"/>
                </a:solidFill>
              </a:rPr>
              <a:t>1. 可交互论文工作台——按 section 分对话逐段写作、改图、编译，随时看到 PDF 效果；</a:t>
            </a:r>
          </a:p>
          <a:p xmlns:a="http://schemas.openxmlformats.org/drawingml/2006/main">
            <a:pPr algn="l">
              <a:defRPr sz="1425" b="0">
                <a:solidFill>
                  <a:srgbClr val="17232D"/>
                </a:solidFill>
              </a:defRPr>
            </a:pPr>
            <a:r>
              <a:rPr sz="1425" b="0">
                <a:solidFill>
                  <a:srgbClr val="17232D"/>
                </a:solidFill>
              </a:rPr>
              <a:t>2. 写作风格个性化——套用你在目标会议发表过的论文作结构参考，语气和篇章组织都贴你自己的风格；</a:t>
            </a:r>
          </a:p>
          <a:p xmlns:a="http://schemas.openxmlformats.org/drawingml/2006/main">
            <a:pPr algn="l">
              <a:defRPr sz="1425" b="0">
                <a:solidFill>
                  <a:srgbClr val="17232D"/>
                </a:solidFill>
              </a:defRPr>
            </a:pPr>
            <a:r>
              <a:rPr sz="1425" b="0">
                <a:solidFill>
                  <a:srgbClr val="17232D"/>
                </a:solidFill>
              </a:rPr>
              <a:t>3. 自动化可编辑图表——intro/motivation 图和 model/method 图支持 GPT Image 构图、重绘及可编辑 PPT/PDF 导出；实验分析图由代码读取真实结果生成，不造假数据。</a:t>
            </a:r>
          </a:p>
        </p:txBody>
      </p:sp>
    </p:spTree>
    <p:extLst>
      <p:ext uri="{BB962C8B-B14F-4D97-AF65-F5344CB8AC3E}">
        <p14:creationId xmlns:p14="http://schemas.microsoft.com/office/powerpoint/2010/main" val="1678102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80FF0-E559-4272-8D5F-85D6F3F4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STEP 0 ·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1A753-A63B-4483-BF15-965C5D1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03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BA5AD-9D86-456B-8695-F2130AD5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A3EEF-CFE6-4CBD-9088-DD6B2C94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profileconstruct｜先建立研究者画像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8E31E-F3AD-40AE-BE1C-49F2BE21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7A"/>
                </a:solidFill>
              </a:defRPr>
            </a:pPr>
            <a:r>
              <a:rPr sz="1425" b="0">
                <a:solidFill>
                  <a:srgbClr val="63717A"/>
                </a:solidFill>
              </a:rPr>
              <a:t>Google Scholar 与可用的 coding-agent 历史共同形成研究身份、写作风格、实验模板和工作习惯。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B7286-E50E-48E0-B410-BA4CADB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7C"/>
                </a:solidFill>
              </a:defRPr>
            </a:pPr>
            <a:r>
              <a:rPr sz="1125" b="1">
                <a:solidFill>
                  <a:srgbClr val="16877C"/>
                </a:solidFill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52DE2-5DC7-4BF9-9720-62254DF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447"/>
                </a:solidFill>
              </a:defRPr>
            </a:pPr>
            <a:r>
              <a:rPr sz="1575" b="1">
                <a:solidFill>
                  <a:srgbClr val="183447"/>
                </a:solidFill>
              </a:rPr>
              <a:t>Google Scholar 论文列表</a:t>
            </a:r>
          </a:p>
          <a:p xmlns:a="http://schemas.openxmlformats.org/drawingml/2006/main">
            <a:pPr algn="l">
              <a:defRPr sz="1575" b="1">
                <a:solidFill>
                  <a:srgbClr val="183447"/>
                </a:solidFill>
              </a:defRPr>
            </a:pPr>
            <a:r>
              <a:rPr sz="1575" b="1">
                <a:solidFill>
                  <a:srgbClr val="183447"/>
                </a:solidFill>
              </a:rPr>
              <a:t>可用的 coding-agent 历史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D1501-D55B-4AC6-A547-776F7CB1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638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默认建立自己的画像，也可以选择一位想学习的前辈作为研究品味和写作风格参考。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6CD62-305B-4E77-AE6D-9AFF564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7BB6D-EABE-40E8-A8B6-013CEE4C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77C"/>
                </a:solidFill>
              </a:defRPr>
            </a:pPr>
            <a:r>
              <a:rPr sz="975" b="1">
                <a:solidFill>
                  <a:srgbClr val="16877C"/>
                </a:solidFill>
              </a:rPr>
              <a:t>$profileconstruct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ECDC5-C989-487E-9017-F068FAEF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8389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9525">
            <a:solidFill>
              <a:srgbClr val="D8E0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71A73-9A0F-44E2-BDF2-8FC1AE77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47"/>
                </a:solidFill>
              </a:defRPr>
            </a:pPr>
            <a:r>
              <a:rPr sz="1350" b="1">
                <a:solidFill>
                  <a:srgbClr val="183447"/>
                </a:solidFill>
              </a:rPr>
              <a:t>researcher-profile/PROFILE.md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18D2E-DA83-4C66-B9FE-D735171C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384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C04AB-EE3E-4E6B-B88A-5A8617BF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7C"/>
                </a:solidFill>
              </a:defRPr>
            </a:pPr>
            <a:r>
              <a:rPr sz="1275" b="1">
                <a:solidFill>
                  <a:srgbClr val="16877C"/>
                </a:solidFill>
              </a:rPr>
              <a:t>Research Identity / Lineage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A6F4E-F85D-4468-A943-ECB77F9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2D"/>
                </a:solidFill>
              </a:defRPr>
            </a:pPr>
            <a:r>
              <a:rPr sz="1200" b="0">
                <a:solidFill>
                  <a:srgbClr val="17232D"/>
                </a:solidFill>
              </a:rPr>
              <a:t>研究身份与主题发展脉络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92310-3EE0-4765-818A-E55216FA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909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7C"/>
                </a:solidFill>
              </a:defRPr>
            </a:pPr>
            <a:r>
              <a:rPr sz="1275" b="1">
                <a:solidFill>
                  <a:srgbClr val="16877C"/>
                </a:solidFill>
              </a:rPr>
              <a:t>Writing Style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FC9CF-AF99-49F6-9557-19C5BAC2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2D"/>
                </a:solidFill>
              </a:defRPr>
            </a:pPr>
            <a:r>
              <a:rPr sz="1200" b="0">
                <a:solidFill>
                  <a:srgbClr val="17232D"/>
                </a:solidFill>
              </a:rPr>
              <a:t>摘要论证、贡献表述与全文篇章结构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BE560-64AC-48D1-B9E3-D865ECA2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7C"/>
                </a:solidFill>
              </a:defRPr>
            </a:pPr>
            <a:r>
              <a:rPr sz="1275" b="1">
                <a:solidFill>
                  <a:srgbClr val="16877C"/>
                </a:solidFill>
              </a:rPr>
              <a:t>Experiment Templates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628E1-49E6-488C-8E68-839C8B00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2D"/>
                </a:solidFill>
              </a:defRPr>
            </a:pPr>
            <a:r>
              <a:rPr sz="1200" b="0">
                <a:solidFill>
                  <a:srgbClr val="17232D"/>
                </a:solidFill>
              </a:rPr>
              <a:t>训练框架、基础模型、GPU 与历史 OOM 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FB333F-8B29-4064-9466-80F609B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625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77C"/>
                </a:solidFill>
              </a:defRPr>
            </a:pPr>
            <a:r>
              <a:rPr sz="1275" b="1">
                <a:solidFill>
                  <a:srgbClr val="16877C"/>
                </a:solidFill>
              </a:rPr>
              <a:t>Workflow Preferences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B5494-0A24-40A9-84FE-5732CBEB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2D"/>
                </a:solidFill>
              </a:defRPr>
            </a:pPr>
            <a:r>
              <a:rPr sz="1200" b="0">
                <a:solidFill>
                  <a:srgbClr val="17232D"/>
                </a:solidFill>
              </a:rPr>
              <a:t>低成本步骤优先、缓存中间结果、实验可恢复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07BC5-AB75-40BF-90EF-27A069B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293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17A"/>
                </a:solidFill>
              </a:defRPr>
            </a:pPr>
            <a:r>
              <a:rPr sz="825" b="0">
                <a:solidFill>
                  <a:srgbClr val="63717A"/>
                </a:solidFill>
              </a:rPr>
              <a:t>效果预览</a:t>
            </a:r>
          </a:p>
        </p:txBody>
      </p:sp>
    </p:spTree>
    <p:extLst>
      <p:ext uri="{BB962C8B-B14F-4D97-AF65-F5344CB8AC3E}">
        <p14:creationId xmlns:p14="http://schemas.microsoft.com/office/powerpoint/2010/main" val="1523841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7C43F2-8FEB-468F-B533-6408171C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STEP 1 · LITERATURE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DEF4C-97AF-4475-953F-40AB8FDE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04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39A92-A982-42EF-A843-FE9A227F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D5336-4387-432A-A9CE-42B6341F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researchlit｜先把领域看全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38C91-864C-47C8-860D-88137244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7A"/>
                </a:solidFill>
              </a:defRPr>
            </a:pPr>
            <a:r>
              <a:rPr sz="1425" b="0">
                <a:solidFill>
                  <a:srgbClr val="63717A"/>
                </a:solidFill>
              </a:rPr>
              <a:t>多角度并行检索、逐篇核验，输出可独立阅读的文献综述。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52C7B-BB25-4019-AD78-62737CBA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36B85-9C66-4C5C-B8C0-FBA2D387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多角度检索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C45B9-11CB-47F2-8D70-885C2279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并行覆盖主题的不同子方向。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4225A-F09A-4980-B0CD-69D2FECF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BEA5E-5B35-4F45-92AC-48ADA124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逐篇核验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66491-D987-4C7A-B304-DAF7E809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只保留真正检索并核对过的论文。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E43E6-B313-4A44-ACB1-37AFD56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1FE7E-87EE-4B42-8EC6-12457091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自包含报告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7E41A-98AD-4397-B53C-11E7E8D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输出 01_LIT_SURVEY.html，按主题组织趋势、争议与空白。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7D5DA-32C7-4D41-8B93-CA4A8C57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72771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E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84CE4-E05A-45FE-9872-B4289F2B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b4c454d9b43c8"/>
          <a:srcRect xmlns:a="http://schemas.openxmlformats.org/drawingml/2006/main" l="0" t="3155" r="0" b="3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5E2C7-C3E9-47F9-9A54-7D1E297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00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17A"/>
                </a:solidFill>
              </a:defRPr>
            </a:pPr>
            <a:r>
              <a:rPr sz="825" b="0">
                <a:solidFill>
                  <a:srgbClr val="63717A"/>
                </a:solidFill>
              </a:rPr>
              <a:t>效果预览</a:t>
            </a:r>
          </a:p>
        </p:txBody>
      </p:sp>
    </p:spTree>
    <p:extLst>
      <p:ext uri="{BB962C8B-B14F-4D97-AF65-F5344CB8AC3E}">
        <p14:creationId xmlns:p14="http://schemas.microsoft.com/office/powerpoint/2010/main" val="742212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BE0AC7-F764-4BC4-B47B-88E3B6F7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STEP 2 ·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2D005-A93A-4529-B231-976869C2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05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9188-8990-4C94-895F-8A218839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2BBBA-9145-45B5-A5D3-587C3F6B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ideagen｜从你的研究脉络生成候选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90A64-AA61-4265-8585-6A9CEBEA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7A"/>
                </a:solidFill>
              </a:defRPr>
            </a:pPr>
            <a:r>
              <a:rPr sz="1425" b="0">
                <a:solidFill>
                  <a:srgbClr val="63717A"/>
                </a:solidFill>
              </a:rPr>
              <a:t>结合画像和文献综述，给出可比较的候选 idea，最终由研究者选择。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E4043-86EC-47E0-A3B9-E364C179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A9717-1E3A-4FB0-8979-735216D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画像驱动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F73EA-FC48-42FF-A418-70842F2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从 publication list、研究脉络和方法偏好出发。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126C-8D4F-4923-8F86-FFB81C5D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A8580-BAD2-4CAD-B52A-7D3047FD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可比较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9D4E7-4424-41AE-BA81-CA23DC04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说明最接近工作、具体差异、反对意见和可验证假设。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6D476-078E-4778-87AA-51389C91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7C031-60A4-4707-A283-72A8AEA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由你选择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326E9-0711-4FA6-96B7-9935BFDD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系统负责排序和解释，不替研究者决定做哪个 idea。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CFF7C-8576-43CF-9DEA-E190B08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72771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E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4A3E2-AEC3-4CFE-9D39-059558B7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ff3535eda40ed"/>
          <a:srcRect xmlns:a="http://schemas.openxmlformats.org/drawingml/2006/main" l="0" t="3155" r="0" b="3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594C0-1233-4871-81FF-8BEDA72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00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17A"/>
                </a:solidFill>
              </a:defRPr>
            </a:pPr>
            <a:r>
              <a:rPr sz="825" b="0">
                <a:solidFill>
                  <a:srgbClr val="63717A"/>
                </a:solidFill>
              </a:rPr>
              <a:t>效果预览</a:t>
            </a:r>
          </a:p>
        </p:txBody>
      </p:sp>
    </p:spTree>
    <p:extLst>
      <p:ext uri="{BB962C8B-B14F-4D97-AF65-F5344CB8AC3E}">
        <p14:creationId xmlns:p14="http://schemas.microsoft.com/office/powerpoint/2010/main" val="976803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31DADD-2066-4A17-942D-5D4030DD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STEP 3 · EXPERIMENT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267FF-5F08-49DB-90E2-F4E3121F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06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45C-3E49-475F-9BBD-B792D672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D6FA0-61EB-49E8-A783-34F95282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expdesign｜先写论文骨架，再反推实验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55BAA-6347-4C43-B005-08526A05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7A"/>
                </a:solidFill>
              </a:defRPr>
            </a:pPr>
            <a:r>
              <a:rPr sz="1425" b="0">
                <a:solidFill>
                  <a:srgbClr val="63717A"/>
                </a:solidFill>
              </a:rPr>
              <a:t>先写预期摘要与论文骨架，再为每条 claim 设计能够支持或证伪它的实验。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FDAB1-E0C6-4362-9073-E9B2C1E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1F850-F44A-4020-8501-FDB02D6C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先投影论文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98A9E-3B07-435D-A472-537BBE9B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写预期摘要、Intro 逻辑、Method 模块和实验章节。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F0E12-4875-4B42-B977-BCC9DA17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B6440-0AC1-40C4-83BB-B917AF38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再拆 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8D7D7-44D8-4529-8F42-0FE2A1DA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为每条 claim 明确可支持、可证伪的证据需求。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4461E-4023-4E62-A43A-D97771BA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B8A8E-03AB-42DB-BFB6-0DFC959F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形成实验合同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BE814-08B0-4D08-8D85-79E4940E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确定 baseline、数据集、指标、消融、预算和结果字段。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95AD4-20A1-4F02-97C4-38109CC2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72771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E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8E9AF-B6E6-4734-AC74-A75C87AF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856bcf7894bd5"/>
          <a:srcRect xmlns:a="http://schemas.openxmlformats.org/drawingml/2006/main" l="0" t="3155" r="0" b="3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FE705-ADF2-4300-84C9-6203A1C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00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17A"/>
                </a:solidFill>
              </a:defRPr>
            </a:pPr>
            <a:r>
              <a:rPr sz="825" b="0">
                <a:solidFill>
                  <a:srgbClr val="63717A"/>
                </a:solidFill>
              </a:rPr>
              <a:t>效果预览</a:t>
            </a:r>
          </a:p>
        </p:txBody>
      </p:sp>
    </p:spTree>
    <p:extLst>
      <p:ext uri="{BB962C8B-B14F-4D97-AF65-F5344CB8AC3E}">
        <p14:creationId xmlns:p14="http://schemas.microsoft.com/office/powerpoint/2010/main" val="1012927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D925C2-E5C2-48AB-93AD-20AD8A60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STEP 4 ·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CBA62-F5D1-4045-8D45-DFA6310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07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5358B-954C-4746-A875-5738BFEA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9D5CB-E850-4255-94D1-78F022DC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runplan｜一次推进一个 goal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79438-AD3A-40BD-94D2-C1DA855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7A"/>
                </a:solidFill>
              </a:defRPr>
            </a:pPr>
            <a:r>
              <a:rPr sz="1425" b="0">
                <a:solidFill>
                  <a:srgbClr val="63717A"/>
                </a:solidFill>
              </a:rPr>
              <a:t>读取已批准的 expdesign，生成整体执行计划，再逐个提示你用 /goal 完成；真实数字回溯到原始结果。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01598-6E52-445D-922F-0EB79D46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292AC-0DFA-4D9C-92E0-FDBD0997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整体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5D0DC-FF2B-41B7-BE78-8B8957C0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按依赖组织 smoke、假设验证、方法可行性、主结果与稳健性。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D82A8-82E1-4B8D-ABB3-0B0776AC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5047F-BE43-4694-BB9C-39F0589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一次一个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E9BC4-1AED-4E3A-80BB-8087CB71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每次只推进一个可审查目标，完成后停下展示证据。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BDA63-33E9-4A23-B5BD-5F2C1D87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47C24-B193-4339-92B6-DBFA2919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结果可追溯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64C71-0BAB-4879-A8DF-A3BF7E1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所有数字回溯到 raw results，负结果同样保留。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617B7-F6DC-4244-85A5-9D109F47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72771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E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FFE2C-8B9A-495C-8CB0-E5DE192D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e0ec9cc304ab5"/>
          <a:srcRect xmlns:a="http://schemas.openxmlformats.org/drawingml/2006/main" l="0" t="3155" r="0" b="3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A9FC3-C968-479C-8B28-418F5283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00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17A"/>
                </a:solidFill>
              </a:defRPr>
            </a:pPr>
            <a:r>
              <a:rPr sz="825" b="0">
                <a:solidFill>
                  <a:srgbClr val="63717A"/>
                </a:solidFill>
              </a:rPr>
              <a:t>效果预览</a:t>
            </a:r>
          </a:p>
        </p:txBody>
      </p:sp>
    </p:spTree>
    <p:extLst>
      <p:ext uri="{BB962C8B-B14F-4D97-AF65-F5344CB8AC3E}">
        <p14:creationId xmlns:p14="http://schemas.microsoft.com/office/powerpoint/2010/main" val="1566893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D5060-04F7-4149-966D-FCFA4976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STEP 5 · PAPER WRITING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8D766-780E-466F-B335-310616A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08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20C22-684C-4151-B628-B93B14C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D2182-8DB9-461B-B2E6-4CCD8AA5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paperwrite｜在一个界面完成论文写作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4F8CC-38FB-4254-8C2D-875ED3D6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7A"/>
                </a:solidFill>
              </a:defRPr>
            </a:pPr>
            <a:r>
              <a:rPr sz="1425" b="0">
                <a:solidFill>
                  <a:srgbClr val="63717A"/>
                </a:solidFill>
              </a:rPr>
              <a:t>逐 section 对话、修改和接受，自动同步 LaTeX、编译 PDF，并生成可编辑图表。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2627C-C54C-47A5-B500-4758FBB5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1CCF-5641-44D8-B70D-6DCCC839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交互写作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48FEE-7C3E-41A1-A4C2-3755F41D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每个 section 独立对话，可参考段落并按 comment 修改。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97B89-855B-4DC4-A8F9-2EDB5FAA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BE61B-5AFD-443C-88C8-9EB406B9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实时编译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EF8DE-F095-4029-BF09-8CD27C2E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接受后同步 LaTeX，在同一页面刷新 PDF。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81CC2-1D6A-4109-8997-682FD023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3D836-9E97-4C55-949F-044A0998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47"/>
                </a:solidFill>
              </a:defRPr>
            </a:pPr>
            <a:r>
              <a:rPr sz="1500" b="1">
                <a:solidFill>
                  <a:srgbClr val="183447"/>
                </a:solidFill>
              </a:rPr>
              <a:t>可编辑图表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6C584-E5DD-4E0F-BFDC-9CA50EF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2D"/>
                </a:solidFill>
              </a:defRPr>
            </a:pPr>
            <a:r>
              <a:rPr sz="1275" b="0">
                <a:solidFill>
                  <a:srgbClr val="17232D"/>
                </a:solidFill>
              </a:rPr>
              <a:t>机制图支持 GPT Image 构图及 PPT/PDF 导出；实验图读取真实结果。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E38B8-0168-4372-B121-0002EBF7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72771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E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C679F-025E-429B-8F13-8CC395BC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AFB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ca8ba438443f3"/>
          <a:srcRect xmlns:a="http://schemas.openxmlformats.org/drawingml/2006/main" l="0" t="3155" r="0" b="3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2095500"/>
            <a:ext cx="7124700" cy="4171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41E51-EB51-4DBE-AE77-85FA82C8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00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17A"/>
                </a:solidFill>
              </a:defRPr>
            </a:pPr>
            <a:r>
              <a:rPr sz="825" b="0">
                <a:solidFill>
                  <a:srgbClr val="63717A"/>
                </a:solidFill>
              </a:rPr>
              <a:t>效果预览</a:t>
            </a:r>
          </a:p>
        </p:txBody>
      </p:sp>
    </p:spTree>
    <p:extLst>
      <p:ext uri="{BB962C8B-B14F-4D97-AF65-F5344CB8AC3E}">
        <p14:creationId xmlns:p14="http://schemas.microsoft.com/office/powerpoint/2010/main" val="793137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90ECCD-3218-4FDF-80D1-873EE63D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77C"/>
                </a:solidFill>
              </a:defRPr>
            </a:pPr>
            <a:r>
              <a:rPr sz="900" b="1">
                <a:solidFill>
                  <a:srgbClr val="16877C"/>
                </a:solidFill>
              </a:rPr>
              <a:t>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E3410-1541-4590-A43D-9A068342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17A"/>
                </a:solidFill>
              </a:defRPr>
            </a:pPr>
            <a:r>
              <a:rPr sz="900" b="1">
                <a:solidFill>
                  <a:srgbClr val="63717A"/>
                </a:solidFill>
              </a:rPr>
              <a:t>09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6B0DC-1D55-483B-A7CA-2FA54848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8DBC9-CD79-4882-9C4C-66DA76A9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47"/>
                </a:solidFill>
              </a:defRPr>
            </a:pPr>
            <a:r>
              <a:rPr sz="2550" b="1">
                <a:solidFill>
                  <a:srgbClr val="183447"/>
                </a:solidFill>
              </a:rPr>
              <a:t>最终交付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B13CF-BB2A-4587-8FC1-D1255FD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7A"/>
                </a:solidFill>
              </a:defRPr>
            </a:pPr>
            <a:r>
              <a:rPr sz="1425" b="0">
                <a:solidFill>
                  <a:srgbClr val="63717A"/>
                </a:solidFill>
              </a:rPr>
              <a:t>论文、实验结果、可重跑代码和过程报告都保留为可检查、可继续使用的文件。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35D2E-783D-4178-A284-D3D35F14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77C"/>
                </a:solidFill>
              </a:defRPr>
            </a:pPr>
            <a:r>
              <a:rPr sz="975" b="1">
                <a:solidFill>
                  <a:srgbClr val="16877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B6588-8C3D-411D-B99E-AA6B1856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47"/>
                </a:solidFill>
              </a:defRPr>
            </a:pPr>
            <a:r>
              <a:rPr sz="1650" b="1">
                <a:solidFill>
                  <a:srgbClr val="183447"/>
                </a:solidFill>
              </a:rPr>
              <a:t>paper/main.tex · paper/main.pdf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D7073-F3B8-4F3E-B8AC-D69E155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2D"/>
                </a:solidFill>
              </a:defRPr>
            </a:pPr>
            <a:r>
              <a:rPr sz="1350" b="0">
                <a:solidFill>
                  <a:srgbClr val="17232D"/>
                </a:solidFill>
              </a:rPr>
              <a:t>可编辑 LaTeX 源文件与编译后的论文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94C26-11F7-4F46-868D-2EA999C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DAA62-9D2C-48CC-91EE-D7DCCDFC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77C"/>
                </a:solidFill>
              </a:defRPr>
            </a:pPr>
            <a:r>
              <a:rPr sz="975" b="1">
                <a:solidFill>
                  <a:srgbClr val="16877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F09B8-CC17-438B-B2CF-AB177ADD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47"/>
                </a:solidFill>
              </a:defRPr>
            </a:pPr>
            <a:r>
              <a:rPr sz="1650" b="1">
                <a:solidFill>
                  <a:srgbClr val="183447"/>
                </a:solidFill>
              </a:rPr>
              <a:t>results/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7118E-D943-4591-9996-7F86FE9A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2D"/>
                </a:solidFill>
              </a:defRPr>
            </a:pPr>
            <a:r>
              <a:rPr sz="1350" b="0">
                <a:solidFill>
                  <a:srgbClr val="17232D"/>
                </a:solidFill>
              </a:rPr>
              <a:t>实验原始记录、指标、配置与 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0B2F8-97D6-470E-8484-E4DD8689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8AFC9-2862-498F-A972-B9D5327A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77C"/>
                </a:solidFill>
              </a:defRPr>
            </a:pPr>
            <a:r>
              <a:rPr sz="975" b="1">
                <a:solidFill>
                  <a:srgbClr val="16877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95F43-8B0C-4D1C-8561-08043E0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47"/>
                </a:solidFill>
              </a:defRPr>
            </a:pPr>
            <a:r>
              <a:rPr sz="1650" b="1">
                <a:solidFill>
                  <a:srgbClr val="183447"/>
                </a:solidFill>
              </a:rPr>
              <a:t>code/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A72F4-B452-4A17-B5D6-321A0F99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2D"/>
                </a:solidFill>
              </a:defRPr>
            </a:pPr>
            <a:r>
              <a:rPr sz="1350" b="0">
                <a:solidFill>
                  <a:srgbClr val="17232D"/>
                </a:solidFill>
              </a:rPr>
              <a:t>每个实验 goal 生成的可重跑代码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C8885-A24B-44F6-BBC3-1B023C5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4BEB0-34F1-4184-87BF-B288D71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77C"/>
                </a:solidFill>
              </a:defRPr>
            </a:pPr>
            <a:r>
              <a:rPr sz="975" b="1">
                <a:solidFill>
                  <a:srgbClr val="16877C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5C819-B132-4155-9B62-ECB17205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47"/>
                </a:solidFill>
              </a:defRPr>
            </a:pPr>
            <a:r>
              <a:rPr sz="1650" b="1">
                <a:solidFill>
                  <a:srgbClr val="183447"/>
                </a:solidFill>
              </a:rPr>
              <a:t>reports/01–04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81143-18CF-4AA2-95FC-F8FF88FF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863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2D"/>
                </a:solidFill>
              </a:defRPr>
            </a:pPr>
            <a:r>
              <a:rPr sz="1350" b="0">
                <a:solidFill>
                  <a:srgbClr val="17232D"/>
                </a:solidFill>
              </a:rPr>
              <a:t>文献综述、Idea、实验计划与实验结果报告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2C0E6-E12F-4FD1-82B8-1C7661F0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6883369"/>
      </p:ext>
    </p:extLst>
  </p:cSld>
</p:sld>
</file>

<file path=ppt/theme/theme1.xml><?xml version="1.0" encoding="utf-8"?>
<a:theme xmlns:a="http://schemas.openxmlformats.org/drawingml/2006/main" name="Research Twin">
  <a:themeElements>
    <a:clrScheme name="Research Twin">
      <a:accent1>
        <a:srgbClr val="16877C"/>
      </a:accent1>
      <a:accent2>
        <a:srgbClr val="16877C"/>
      </a:accent2>
      <a:accent3>
        <a:srgbClr val="315A70"/>
      </a:accent3>
      <a:accent4>
        <a:srgbClr val="65747C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search Twin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2026-08-06T12:52:29.6840000Z</dcterms:created>
  <dcterms:modified xsi:type="dcterms:W3CDTF">2026-08-06T12:52:29.6840000Z</dcterms:modified>
</coreProperties>
</file>