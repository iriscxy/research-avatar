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35808" cy="25603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432" y="64007"/>
            <a:ext cx="2792943" cy="17922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720" b="1">
                <a:solidFill>
                  <a:srgbClr val="263A42"/>
                </a:solidFill>
                <a:latin typeface="Arial"/>
              </a:rPr>
              <a:t>SAME POOL  ·  EQUAL QUOTAS  ·  SAME COUNT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148" y="307238"/>
            <a:ext cx="789310" cy="307238"/>
          </a:xfrm>
          <a:prstGeom prst="roundRect">
            <a:avLst/>
          </a:prstGeom>
          <a:solidFill>
            <a:srgbClr val="E7ECEB"/>
          </a:solidFill>
          <a:ln w="12700">
            <a:solidFill>
              <a:srgbClr val="26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40" b="1">
                <a:solidFill>
                  <a:srgbClr val="263A42"/>
                </a:solidFill>
                <a:latin typeface="Arial"/>
              </a:rPr>
              <a:t>clean utterance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01816" y="460857"/>
            <a:ext cx="303581" cy="0"/>
          </a:xfrm>
          <a:prstGeom prst="line">
            <a:avLst/>
          </a:prstGeom>
          <a:ln w="13970">
            <a:solidFill>
              <a:srgbClr val="263A4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366113" y="268833"/>
            <a:ext cx="303580" cy="204825"/>
          </a:xfrm>
          <a:prstGeom prst="roundRect">
            <a:avLst/>
          </a:prstGeom>
          <a:solidFill>
            <a:srgbClr val="DCEFED"/>
          </a:solidFill>
          <a:ln w="12700">
            <a:solidFill>
              <a:srgbClr val="087F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87F74"/>
                </a:solidFill>
                <a:latin typeface="Arial"/>
              </a:rPr>
              <a:t>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0410" y="268833"/>
            <a:ext cx="303580" cy="204825"/>
          </a:xfrm>
          <a:prstGeom prst="roundRect">
            <a:avLst/>
          </a:prstGeom>
          <a:solidFill>
            <a:srgbClr val="F7E5D8"/>
          </a:solidFill>
          <a:ln w="12700">
            <a:solidFill>
              <a:srgbClr val="C06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9A4E28"/>
                </a:solidFill>
                <a:latin typeface="Arial"/>
              </a:rPr>
              <a:t>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94707" y="268833"/>
            <a:ext cx="303580" cy="204825"/>
          </a:xfrm>
          <a:prstGeom prst="roundRect">
            <a:avLst/>
          </a:prstGeom>
          <a:solidFill>
            <a:srgbClr val="E4E8F3"/>
          </a:solidFill>
          <a:ln w="12700">
            <a:solidFill>
              <a:srgbClr val="50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405688"/>
                </a:solidFill>
                <a:latin typeface="Arial"/>
              </a:rPr>
              <a:t>I</a:t>
            </a:r>
          </a:p>
        </p:txBody>
      </p:sp>
      <p:sp>
        <p:nvSpPr>
          <p:cNvPr id="8" name="Hexagon 7"/>
          <p:cNvSpPr/>
          <p:nvPr/>
        </p:nvSpPr>
        <p:spPr>
          <a:xfrm>
            <a:off x="2459004" y="256031"/>
            <a:ext cx="333938" cy="230428"/>
          </a:xfrm>
          <a:prstGeom prst="hexagon">
            <a:avLst/>
          </a:prstGeom>
          <a:solidFill>
            <a:srgbClr val="F0F2F1"/>
          </a:solidFill>
          <a:ln w="12700">
            <a:solidFill>
              <a:srgbClr val="26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263A42"/>
                </a:solidFill>
                <a:latin typeface="Arial"/>
              </a:rPr>
              <a:t>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6113" y="499262"/>
            <a:ext cx="1426829" cy="12801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2636A"/>
                </a:solidFill>
                <a:latin typeface="Arial"/>
              </a:rPr>
              <a:t>swap     delete     insert     keyboard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148" y="793699"/>
            <a:ext cx="698235" cy="15361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720" b="1">
                <a:solidFill>
                  <a:srgbClr val="263A42"/>
                </a:solidFill>
                <a:latin typeface="Arial"/>
              </a:rPr>
              <a:t>true-label margin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6445" y="998524"/>
            <a:ext cx="0" cy="716890"/>
          </a:xfrm>
          <a:prstGeom prst="line">
            <a:avLst/>
          </a:prstGeom>
          <a:ln w="16510">
            <a:solidFill>
              <a:srgbClr val="263A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074" y="921715"/>
            <a:ext cx="303580" cy="12801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2636A"/>
                </a:solidFill>
                <a:latin typeface="Arial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4" y="1664207"/>
            <a:ext cx="303580" cy="12801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2636A"/>
                </a:solidFill>
                <a:latin typeface="Arial"/>
              </a:rPr>
              <a:t>low</a:t>
            </a:r>
          </a:p>
        </p:txBody>
      </p:sp>
      <p:sp>
        <p:nvSpPr>
          <p:cNvPr id="14" name="Oval 13"/>
          <p:cNvSpPr/>
          <p:nvPr/>
        </p:nvSpPr>
        <p:spPr>
          <a:xfrm>
            <a:off x="440192" y="1036929"/>
            <a:ext cx="212506" cy="153619"/>
          </a:xfrm>
          <a:prstGeom prst="ellipse">
            <a:avLst/>
          </a:prstGeom>
          <a:solidFill>
            <a:srgbClr val="DCEFED"/>
          </a:solidFill>
          <a:ln w="12700">
            <a:solidFill>
              <a:srgbClr val="087F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87F74"/>
                </a:solidFill>
                <a:latin typeface="Arial"/>
              </a:rPr>
              <a:t>S</a:t>
            </a:r>
          </a:p>
        </p:txBody>
      </p:sp>
      <p:sp>
        <p:nvSpPr>
          <p:cNvPr id="15" name="Oval 14"/>
          <p:cNvSpPr/>
          <p:nvPr/>
        </p:nvSpPr>
        <p:spPr>
          <a:xfrm>
            <a:off x="440192" y="1228953"/>
            <a:ext cx="212506" cy="153619"/>
          </a:xfrm>
          <a:prstGeom prst="ellipse">
            <a:avLst/>
          </a:prstGeom>
          <a:solidFill>
            <a:srgbClr val="F0F2F1"/>
          </a:solidFill>
          <a:ln w="12700">
            <a:solidFill>
              <a:srgbClr val="26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263A42"/>
                </a:solidFill>
                <a:latin typeface="Arial"/>
              </a:rPr>
              <a:t>K</a:t>
            </a:r>
          </a:p>
        </p:txBody>
      </p:sp>
      <p:sp>
        <p:nvSpPr>
          <p:cNvPr id="16" name="Oval 15"/>
          <p:cNvSpPr/>
          <p:nvPr/>
        </p:nvSpPr>
        <p:spPr>
          <a:xfrm>
            <a:off x="440192" y="1420977"/>
            <a:ext cx="212506" cy="153619"/>
          </a:xfrm>
          <a:prstGeom prst="ellipse">
            <a:avLst/>
          </a:prstGeom>
          <a:solidFill>
            <a:srgbClr val="E4E8F3"/>
          </a:solidFill>
          <a:ln w="12700">
            <a:solidFill>
              <a:srgbClr val="50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405688"/>
                </a:solidFill>
                <a:latin typeface="Arial"/>
              </a:rPr>
              <a:t>I</a:t>
            </a:r>
          </a:p>
        </p:txBody>
      </p:sp>
      <p:sp>
        <p:nvSpPr>
          <p:cNvPr id="17" name="Oval 16"/>
          <p:cNvSpPr/>
          <p:nvPr/>
        </p:nvSpPr>
        <p:spPr>
          <a:xfrm>
            <a:off x="440192" y="1613001"/>
            <a:ext cx="212506" cy="153619"/>
          </a:xfrm>
          <a:prstGeom prst="ellipse">
            <a:avLst/>
          </a:prstGeom>
          <a:solidFill>
            <a:srgbClr val="F7E5D8"/>
          </a:solidFill>
          <a:ln w="12700">
            <a:solidFill>
              <a:srgbClr val="C06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9A4E28"/>
                </a:solidFill>
                <a:latin typeface="Arial"/>
              </a:rPr>
              <a:t>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8952" y="1484985"/>
            <a:ext cx="516087" cy="0"/>
          </a:xfrm>
          <a:prstGeom prst="line">
            <a:avLst/>
          </a:prstGeom>
          <a:ln w="17780">
            <a:solidFill>
              <a:srgbClr val="C06A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80384" y="1305763"/>
            <a:ext cx="516087" cy="12801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A4E28"/>
                </a:solidFill>
                <a:latin typeface="Arial"/>
              </a:rPr>
              <a:t>rank within intent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26829" y="793699"/>
            <a:ext cx="667877" cy="947318"/>
          </a:xfrm>
          <a:prstGeom prst="roundRect">
            <a:avLst/>
          </a:prstGeom>
          <a:solidFill>
            <a:srgbClr val="F3FAF8"/>
          </a:solidFill>
          <a:ln w="15240">
            <a:solidFill>
              <a:srgbClr val="087F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87545" y="844905"/>
            <a:ext cx="546445" cy="307238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730" b="1">
                <a:solidFill>
                  <a:srgbClr val="087F74"/>
                </a:solidFill>
                <a:latin typeface="Arial"/>
              </a:rPr>
              <a:t>MTA
lowest margins</a:t>
            </a:r>
          </a:p>
        </p:txBody>
      </p:sp>
      <p:sp>
        <p:nvSpPr>
          <p:cNvPr id="22" name="Oval 21"/>
          <p:cNvSpPr/>
          <p:nvPr/>
        </p:nvSpPr>
        <p:spPr>
          <a:xfrm>
            <a:off x="1533083" y="1164945"/>
            <a:ext cx="166969" cy="128015"/>
          </a:xfrm>
          <a:prstGeom prst="ellipse">
            <a:avLst/>
          </a:prstGeom>
          <a:solidFill>
            <a:srgbClr val="F7E5D8"/>
          </a:solidFill>
          <a:ln w="10160">
            <a:solidFill>
              <a:srgbClr val="C06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806305" y="1164945"/>
            <a:ext cx="166969" cy="128015"/>
          </a:xfrm>
          <a:prstGeom prst="ellipse">
            <a:avLst/>
          </a:prstGeom>
          <a:solidFill>
            <a:srgbClr val="E4E8F3"/>
          </a:solidFill>
          <a:ln w="10160">
            <a:solidFill>
              <a:srgbClr val="50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533083" y="1344168"/>
            <a:ext cx="166969" cy="128015"/>
          </a:xfrm>
          <a:prstGeom prst="ellipse">
            <a:avLst/>
          </a:prstGeom>
          <a:solidFill>
            <a:srgbClr val="F7E5D8"/>
          </a:solidFill>
          <a:ln w="10160">
            <a:solidFill>
              <a:srgbClr val="C06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06305" y="1344168"/>
            <a:ext cx="166969" cy="128015"/>
          </a:xfrm>
          <a:prstGeom prst="ellipse">
            <a:avLst/>
          </a:prstGeom>
          <a:solidFill>
            <a:srgbClr val="DCEFED"/>
          </a:solidFill>
          <a:ln w="10160">
            <a:solidFill>
              <a:srgbClr val="087F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87545" y="1510588"/>
            <a:ext cx="546445" cy="15361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2636A"/>
                </a:solidFill>
                <a:latin typeface="Arial"/>
              </a:rPr>
              <a:t>equal class quotas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16139" y="793699"/>
            <a:ext cx="667877" cy="947318"/>
          </a:xfrm>
          <a:prstGeom prst="roundRect">
            <a:avLst/>
          </a:prstGeom>
          <a:solidFill>
            <a:srgbClr val="F7F8F8"/>
          </a:solidFill>
          <a:ln w="15240">
            <a:solidFill>
              <a:srgbClr val="657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76856" y="844905"/>
            <a:ext cx="546445" cy="307238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730" b="1">
                <a:solidFill>
                  <a:srgbClr val="52636A"/>
                </a:solidFill>
                <a:latin typeface="Arial"/>
              </a:rPr>
              <a:t>Random
mixed margins</a:t>
            </a:r>
          </a:p>
        </p:txBody>
      </p:sp>
      <p:sp>
        <p:nvSpPr>
          <p:cNvPr id="29" name="Oval 28"/>
          <p:cNvSpPr/>
          <p:nvPr/>
        </p:nvSpPr>
        <p:spPr>
          <a:xfrm>
            <a:off x="2322393" y="1164945"/>
            <a:ext cx="166969" cy="128015"/>
          </a:xfrm>
          <a:prstGeom prst="ellipse">
            <a:avLst/>
          </a:prstGeom>
          <a:solidFill>
            <a:srgbClr val="DCEFED"/>
          </a:solidFill>
          <a:ln w="10160">
            <a:solidFill>
              <a:srgbClr val="087F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95615" y="1164945"/>
            <a:ext cx="166969" cy="128015"/>
          </a:xfrm>
          <a:prstGeom prst="ellipse">
            <a:avLst/>
          </a:prstGeom>
          <a:solidFill>
            <a:srgbClr val="F0F2F1"/>
          </a:solidFill>
          <a:ln w="10160">
            <a:solidFill>
              <a:srgbClr val="26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22393" y="1344168"/>
            <a:ext cx="166969" cy="128015"/>
          </a:xfrm>
          <a:prstGeom prst="ellipse">
            <a:avLst/>
          </a:prstGeom>
          <a:solidFill>
            <a:srgbClr val="E4E8F3"/>
          </a:solidFill>
          <a:ln w="10160">
            <a:solidFill>
              <a:srgbClr val="50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595615" y="1344168"/>
            <a:ext cx="166969" cy="128015"/>
          </a:xfrm>
          <a:prstGeom prst="ellipse">
            <a:avLst/>
          </a:prstGeom>
          <a:solidFill>
            <a:srgbClr val="F7E5D8"/>
          </a:solidFill>
          <a:ln w="10160">
            <a:solidFill>
              <a:srgbClr val="C06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76856" y="1510588"/>
            <a:ext cx="546445" cy="15361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2636A"/>
                </a:solidFill>
                <a:latin typeface="Arial"/>
              </a:rPr>
              <a:t>equal class quotas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760768" y="1817827"/>
            <a:ext cx="0" cy="281635"/>
          </a:xfrm>
          <a:prstGeom prst="line">
            <a:avLst/>
          </a:prstGeom>
          <a:ln w="16510">
            <a:solidFill>
              <a:srgbClr val="087F7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550078" y="1817827"/>
            <a:ext cx="0" cy="281635"/>
          </a:xfrm>
          <a:prstGeom prst="line">
            <a:avLst/>
          </a:prstGeom>
          <a:ln w="16510">
            <a:solidFill>
              <a:srgbClr val="6577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396471" y="2150668"/>
            <a:ext cx="1517904" cy="281635"/>
          </a:xfrm>
          <a:prstGeom prst="roundRect">
            <a:avLst/>
          </a:prstGeom>
          <a:solidFill>
            <a:srgbClr val="E7ECEB"/>
          </a:solidFill>
          <a:ln w="12700">
            <a:solidFill>
              <a:srgbClr val="26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30" b="1">
                <a:solidFill>
                  <a:srgbClr val="263A42"/>
                </a:solidFill>
                <a:latin typeface="Arial"/>
              </a:rPr>
              <a:t>same model  ·  same evaluator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